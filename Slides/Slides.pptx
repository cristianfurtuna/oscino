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4" r:id="rId1"/>
  </p:sldMasterIdLst>
  <p:sldIdLst>
    <p:sldId id="256" r:id="rId2"/>
    <p:sldId id="257" r:id="rId3"/>
    <p:sldId id="258" r:id="rId4"/>
    <p:sldId id="259" r:id="rId5"/>
    <p:sldId id="262" r:id="rId6"/>
    <p:sldId id="261" r:id="rId7"/>
    <p:sldId id="260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A0"/>
    <a:srgbClr val="288ABA"/>
    <a:srgbClr val="771D82"/>
    <a:srgbClr val="131D82"/>
    <a:srgbClr val="8CBE42"/>
    <a:srgbClr val="AA0533"/>
    <a:srgbClr val="4C23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5195" autoAdjust="0"/>
  </p:normalViewPr>
  <p:slideViewPr>
    <p:cSldViewPr>
      <p:cViewPr varScale="1">
        <p:scale>
          <a:sx n="78" d="100"/>
          <a:sy n="78" d="100"/>
        </p:scale>
        <p:origin x="1594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34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5013176"/>
            <a:ext cx="3312368" cy="1270897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8064388" y="5857924"/>
            <a:ext cx="216000" cy="216000"/>
            <a:chOff x="2772000" y="1932221"/>
            <a:chExt cx="2340000" cy="2340000"/>
          </a:xfrm>
        </p:grpSpPr>
        <p:sp>
          <p:nvSpPr>
            <p:cNvPr id="9" name="Rectangle 8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624228" y="5857924"/>
            <a:ext cx="216000" cy="216000"/>
            <a:chOff x="2772000" y="1932221"/>
            <a:chExt cx="2340000" cy="2340000"/>
          </a:xfrm>
        </p:grpSpPr>
        <p:sp>
          <p:nvSpPr>
            <p:cNvPr id="15" name="Rectangle 14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sp>
        <p:nvSpPr>
          <p:cNvPr id="21" name="Rectangle 20"/>
          <p:cNvSpPr/>
          <p:nvPr/>
        </p:nvSpPr>
        <p:spPr>
          <a:xfrm>
            <a:off x="8064388" y="4417764"/>
            <a:ext cx="216000" cy="216000"/>
          </a:xfrm>
          <a:prstGeom prst="rect">
            <a:avLst/>
          </a:prstGeom>
          <a:solidFill>
            <a:srgbClr val="0064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bg2">
                    <a:lumMod val="75000"/>
                  </a:schemeClr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135834" y="4489210"/>
            <a:ext cx="73108" cy="731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bg2">
                    <a:lumMod val="75000"/>
                  </a:schemeClr>
                </a:solidFill>
              </a:ln>
              <a:solidFill>
                <a:schemeClr val="tx1"/>
              </a:solidFill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5184068" y="5857924"/>
            <a:ext cx="216000" cy="216000"/>
            <a:chOff x="2772000" y="1932221"/>
            <a:chExt cx="2340000" cy="2340000"/>
          </a:xfrm>
        </p:grpSpPr>
        <p:sp>
          <p:nvSpPr>
            <p:cNvPr id="18" name="Rectangle 17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6624228" y="4417764"/>
            <a:ext cx="216000" cy="216000"/>
            <a:chOff x="2772000" y="1932221"/>
            <a:chExt cx="2340000" cy="2340000"/>
          </a:xfrm>
        </p:grpSpPr>
        <p:sp>
          <p:nvSpPr>
            <p:cNvPr id="24" name="Rectangle 23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8064388" y="2977604"/>
            <a:ext cx="216000" cy="216000"/>
            <a:chOff x="2772000" y="1932221"/>
            <a:chExt cx="2340000" cy="2340000"/>
          </a:xfrm>
        </p:grpSpPr>
        <p:sp>
          <p:nvSpPr>
            <p:cNvPr id="27" name="Rectangle 26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755576" y="908720"/>
            <a:ext cx="78128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UT Sans Bold" pitchFamily="50" charset="0"/>
              </a:rPr>
              <a:t>NIBIRU</a:t>
            </a:r>
          </a:p>
          <a:p>
            <a:r>
              <a:rPr lang="en-US" sz="3600" dirty="0" err="1">
                <a:latin typeface="UT Sans Bold" pitchFamily="50" charset="0"/>
              </a:rPr>
              <a:t>Osciloscop</a:t>
            </a:r>
            <a:r>
              <a:rPr lang="en-US" sz="3600" dirty="0">
                <a:latin typeface="UT Sans Bold" pitchFamily="50" charset="0"/>
              </a:rPr>
              <a:t> Digital</a:t>
            </a:r>
            <a:r>
              <a:rPr lang="ro-RO" sz="3600" dirty="0">
                <a:latin typeface="UT Sans Bold" pitchFamily="50" charset="0"/>
              </a:rPr>
              <a:t> cu Izolație Galvanică</a:t>
            </a:r>
            <a:endParaRPr lang="en-US" sz="3600" dirty="0">
              <a:latin typeface="UT Sans Bold" pitchFamily="50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55576" y="3193604"/>
            <a:ext cx="3600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latin typeface="UT Sans Bold" pitchFamily="50" charset="0"/>
              </a:rPr>
              <a:t>Furtun</a:t>
            </a:r>
            <a:r>
              <a:rPr lang="ro-RO" sz="2400" dirty="0">
                <a:latin typeface="UT Sans Bold" pitchFamily="50" charset="0"/>
              </a:rPr>
              <a:t>ă Cristian</a:t>
            </a:r>
            <a:br>
              <a:rPr lang="ro-RO" sz="2400" dirty="0">
                <a:latin typeface="UT Sans Bold" pitchFamily="50" charset="0"/>
              </a:rPr>
            </a:br>
            <a:r>
              <a:rPr lang="ro-RO" sz="2400" dirty="0">
                <a:latin typeface="UT Sans Bold" pitchFamily="50" charset="0"/>
              </a:rPr>
              <a:t>Iordache Denis</a:t>
            </a:r>
            <a:r>
              <a:rPr lang="en-US" sz="2400" dirty="0">
                <a:latin typeface="UT Sans Bold" pitchFamily="50" charset="0"/>
              </a:rPr>
              <a:t>-Ninel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95011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0DFB170-B35F-3CBD-8CCA-ABD34C1C0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574" y="983461"/>
            <a:ext cx="7668852" cy="541209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C3760B6-AF00-BC57-262F-046CDA492B90}"/>
              </a:ext>
            </a:extLst>
          </p:cNvPr>
          <p:cNvSpPr txBox="1"/>
          <p:nvPr/>
        </p:nvSpPr>
        <p:spPr>
          <a:xfrm>
            <a:off x="3095836" y="512676"/>
            <a:ext cx="53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Schematic</a:t>
            </a:r>
          </a:p>
        </p:txBody>
      </p:sp>
    </p:spTree>
    <p:extLst>
      <p:ext uri="{BB962C8B-B14F-4D97-AF65-F5344CB8AC3E}">
        <p14:creationId xmlns:p14="http://schemas.microsoft.com/office/powerpoint/2010/main" val="2490966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15E9888-2622-62E5-F0E0-D16A1C12A1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408" t="3007" b="2286"/>
          <a:stretch/>
        </p:blipFill>
        <p:spPr>
          <a:xfrm>
            <a:off x="499352" y="1052737"/>
            <a:ext cx="7961080" cy="52560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3397751-880B-B780-2EB2-D8CB1C51DD1E}"/>
              </a:ext>
            </a:extLst>
          </p:cNvPr>
          <p:cNvSpPr txBox="1"/>
          <p:nvPr/>
        </p:nvSpPr>
        <p:spPr>
          <a:xfrm>
            <a:off x="3095836" y="512676"/>
            <a:ext cx="53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PCB Design</a:t>
            </a:r>
          </a:p>
        </p:txBody>
      </p:sp>
    </p:spTree>
    <p:extLst>
      <p:ext uri="{BB962C8B-B14F-4D97-AF65-F5344CB8AC3E}">
        <p14:creationId xmlns:p14="http://schemas.microsoft.com/office/powerpoint/2010/main" val="3453293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AE1EA87-E9FB-B2AA-77C6-98CBB063F43A}"/>
              </a:ext>
            </a:extLst>
          </p:cNvPr>
          <p:cNvSpPr txBox="1"/>
          <p:nvPr/>
        </p:nvSpPr>
        <p:spPr>
          <a:xfrm>
            <a:off x="3095836" y="512676"/>
            <a:ext cx="53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PCB Design </a:t>
            </a:r>
            <a:r>
              <a:rPr lang="ro-RO" sz="2000" dirty="0" err="1"/>
              <a:t>Bottom</a:t>
            </a:r>
            <a:endParaRPr lang="ro-RO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D7A329-AC48-9EB8-13ED-0314A3E7DD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384" y="953842"/>
            <a:ext cx="8028384" cy="5354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9042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AE1EA87-E9FB-B2AA-77C6-98CBB063F43A}"/>
              </a:ext>
            </a:extLst>
          </p:cNvPr>
          <p:cNvSpPr txBox="1"/>
          <p:nvPr/>
        </p:nvSpPr>
        <p:spPr>
          <a:xfrm>
            <a:off x="3095836" y="512676"/>
            <a:ext cx="53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PCB Design 3D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5EA5C94-0F06-B5B8-08AC-664C11C510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532" t="20338" r="21256" b="13493"/>
          <a:stretch/>
        </p:blipFill>
        <p:spPr>
          <a:xfrm>
            <a:off x="431540" y="1178716"/>
            <a:ext cx="8173446" cy="4500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132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611560" y="1044019"/>
            <a:ext cx="7848872" cy="46705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Backwards compatibility cu Arduino IDE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maparea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pinilor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este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realizată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în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stil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Arduino Mega)</a:t>
            </a: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Frecvență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maximă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a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semnalului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de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măsurat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circa 300kHz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în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funcție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de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configurarea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ADC-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ului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limită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impusă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de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amplificatorul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de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intrare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)</a:t>
            </a: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Alimentare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unică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prin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USB-C de 5V</a:t>
            </a: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Transfer de date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prin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USB-C (Max. 2Mb/s)</a:t>
            </a: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Intrare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BNC</a:t>
            </a: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Cuplaj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AC/DC</a:t>
            </a: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Encodere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digitale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pentru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control al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afișajului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baza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de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timp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și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scară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de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tensiune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69E954C-8956-D007-11B6-AB54FF84615A}"/>
              </a:ext>
            </a:extLst>
          </p:cNvPr>
          <p:cNvSpPr txBox="1"/>
          <p:nvPr/>
        </p:nvSpPr>
        <p:spPr>
          <a:xfrm>
            <a:off x="3095836" y="512676"/>
            <a:ext cx="53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Specificații hardware finale</a:t>
            </a:r>
          </a:p>
        </p:txBody>
      </p:sp>
    </p:spTree>
    <p:extLst>
      <p:ext uri="{BB962C8B-B14F-4D97-AF65-F5344CB8AC3E}">
        <p14:creationId xmlns:p14="http://schemas.microsoft.com/office/powerpoint/2010/main" val="4277757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611560" y="1044019"/>
            <a:ext cx="7848872" cy="374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ro-RO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Modularitate hardware și software, posibilitatea de reconfigurare a oricărui parametru și de adăugare a unor funcționalități noi prin pinii GPIO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T Sans" pitchFamily="50" charset="0"/>
              <a:ea typeface="+mn-ea"/>
              <a:cs typeface="+mn-cs"/>
            </a:endParaRP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ro-RO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Consum energetic estimativ maxim mai mic de 2W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T Sans" pitchFamily="50" charset="0"/>
              <a:ea typeface="+mn-ea"/>
              <a:cs typeface="+mn-cs"/>
            </a:endParaRP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Circuit de protecție la scurtcircuit la alimentare (e-Fuse)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T Sans" pitchFamily="50" charset="0"/>
              <a:ea typeface="+mn-ea"/>
              <a:cs typeface="+mn-cs"/>
            </a:endParaRP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ro-RO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Comunicație digitală izolată prin izolatori cu cuplaj inductiv și optocuploare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T Sans" pitchFamily="50" charset="0"/>
              <a:ea typeface="+mn-ea"/>
              <a:cs typeface="+mn-cs"/>
            </a:endParaRP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ro-RO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ADC cu 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aproximări succesive configurabil 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T Sans" pitchFamily="50" charset="0"/>
              <a:ea typeface="+mn-ea"/>
              <a:cs typeface="+mn-cs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69E954C-8956-D007-11B6-AB54FF84615A}"/>
              </a:ext>
            </a:extLst>
          </p:cNvPr>
          <p:cNvSpPr txBox="1"/>
          <p:nvPr/>
        </p:nvSpPr>
        <p:spPr>
          <a:xfrm>
            <a:off x="3095836" y="512676"/>
            <a:ext cx="53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Specificații hardware finale</a:t>
            </a:r>
          </a:p>
        </p:txBody>
      </p:sp>
    </p:spTree>
    <p:extLst>
      <p:ext uri="{BB962C8B-B14F-4D97-AF65-F5344CB8AC3E}">
        <p14:creationId xmlns:p14="http://schemas.microsoft.com/office/powerpoint/2010/main" val="2525232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402ED-B5DF-9070-EE26-B578F36B3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622E2F34-9937-03D1-ECF2-8BBBFDC51290}"/>
              </a:ext>
            </a:extLst>
          </p:cNvPr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4C8D318-8249-CF52-7025-BADE410C29F7}"/>
                </a:ext>
              </a:extLst>
            </p:cNvPr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13889D4-EDD2-DB25-9CA5-9460B1BA7CB0}"/>
                </a:ext>
              </a:extLst>
            </p:cNvPr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A017C1F-62EB-B35A-B3FF-7C49169EF532}"/>
              </a:ext>
            </a:extLst>
          </p:cNvPr>
          <p:cNvSpPr txBox="1"/>
          <p:nvPr/>
        </p:nvSpPr>
        <p:spPr>
          <a:xfrm>
            <a:off x="611560" y="1250871"/>
            <a:ext cx="7848872" cy="46705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en-US" sz="2000" dirty="0">
                <a:solidFill>
                  <a:prstClr val="black"/>
                </a:solidFill>
                <a:latin typeface="UT Sans" pitchFamily="50" charset="0"/>
              </a:rPr>
              <a:t>• 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Prototip realizat cu placă de dezvoltare </a:t>
            </a:r>
            <a:r>
              <a:rPr lang="ro-RO" sz="2000" dirty="0" err="1">
                <a:solidFill>
                  <a:prstClr val="black"/>
                </a:solidFill>
                <a:latin typeface="UT Sans" pitchFamily="50" charset="0"/>
              </a:rPr>
              <a:t>Arduino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 Mega 2560 și ADC extern pe 10 biți MCP3008.</a:t>
            </a:r>
            <a:endParaRPr kumimoji="0" lang="ro-RO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T Sans" pitchFamily="50" charset="0"/>
              <a:ea typeface="+mn-ea"/>
              <a:cs typeface="+mn-cs"/>
            </a:endParaRPr>
          </a:p>
          <a:p>
            <a:pPr lvl="0" algn="just">
              <a:lnSpc>
                <a:spcPct val="150000"/>
              </a:lnSpc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ro-RO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Comunicare cu ADC-</a:t>
            </a:r>
            <a:r>
              <a:rPr kumimoji="0" lang="ro-RO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ul</a:t>
            </a:r>
            <a:r>
              <a:rPr kumimoji="0" lang="ro-RO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extern realizată prin SPI.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T Sans" pitchFamily="50" charset="0"/>
              <a:ea typeface="+mn-ea"/>
              <a:cs typeface="+mn-cs"/>
            </a:endParaRP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Trimitere date seriale prin UART pentru afișare pe GUI realizat în </a:t>
            </a:r>
            <a:r>
              <a:rPr lang="ro-RO" sz="2000" dirty="0" err="1">
                <a:solidFill>
                  <a:prstClr val="black"/>
                </a:solidFill>
                <a:latin typeface="UT Sans" pitchFamily="50" charset="0"/>
              </a:rPr>
              <a:t>Python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T Sans" pitchFamily="50" charset="0"/>
              <a:ea typeface="+mn-ea"/>
              <a:cs typeface="+mn-cs"/>
            </a:endParaRP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Semnal de test PWM cu </a:t>
            </a:r>
            <a:r>
              <a:rPr lang="ro-RO" sz="2000" dirty="0" err="1">
                <a:solidFill>
                  <a:prstClr val="black"/>
                </a:solidFill>
                <a:latin typeface="UT Sans" pitchFamily="50" charset="0"/>
              </a:rPr>
              <a:t>duty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 </a:t>
            </a:r>
            <a:r>
              <a:rPr lang="ro-RO" sz="2000" dirty="0" err="1">
                <a:solidFill>
                  <a:prstClr val="black"/>
                </a:solidFill>
                <a:latin typeface="UT Sans" pitchFamily="50" charset="0"/>
              </a:rPr>
              <a:t>cycle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 configurabil generat cu </a:t>
            </a:r>
            <a:r>
              <a:rPr lang="ro-RO" sz="2000" dirty="0" err="1">
                <a:solidFill>
                  <a:prstClr val="black"/>
                </a:solidFill>
                <a:latin typeface="UT Sans" pitchFamily="50" charset="0"/>
              </a:rPr>
              <a:t>Arduino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 Mega 2560.</a:t>
            </a:r>
          </a:p>
          <a:p>
            <a:pPr algn="just">
              <a:lnSpc>
                <a:spcPct val="150000"/>
              </a:lnSpc>
              <a:defRPr/>
            </a:pPr>
            <a:r>
              <a:rPr lang="en-US" sz="2000" dirty="0">
                <a:solidFill>
                  <a:prstClr val="black"/>
                </a:solidFill>
                <a:latin typeface="UT Sans" pitchFamily="50" charset="0"/>
              </a:rPr>
              <a:t>• 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GUI similar unui osciloscop real, funcționalități de trigger, modificare volt/div (SCALE), modificare </a:t>
            </a:r>
            <a:r>
              <a:rPr lang="ro-RO" sz="2000" dirty="0" err="1">
                <a:solidFill>
                  <a:prstClr val="black"/>
                </a:solidFill>
                <a:latin typeface="UT Sans" pitchFamily="50" charset="0"/>
              </a:rPr>
              <a:t>timebase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, poziționare semnal pe ecran.</a:t>
            </a: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lang="ro-RO" sz="2000" dirty="0">
              <a:solidFill>
                <a:prstClr val="black"/>
              </a:solidFill>
              <a:latin typeface="UT Sans" pitchFamily="50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DD9707F-627C-15BB-D822-BDB26AF3CA4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16EBB73-65F8-01E7-267B-4A21857F15DA}"/>
              </a:ext>
            </a:extLst>
          </p:cNvPr>
          <p:cNvSpPr txBox="1"/>
          <p:nvPr/>
        </p:nvSpPr>
        <p:spPr>
          <a:xfrm>
            <a:off x="3095836" y="512676"/>
            <a:ext cx="53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Specificații software</a:t>
            </a:r>
          </a:p>
        </p:txBody>
      </p:sp>
    </p:spTree>
    <p:extLst>
      <p:ext uri="{BB962C8B-B14F-4D97-AF65-F5344CB8AC3E}">
        <p14:creationId xmlns:p14="http://schemas.microsoft.com/office/powerpoint/2010/main" val="38422197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82A0A-540B-990B-294D-4DDE64849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89E1D57-BE88-4F2E-1206-F76B201B417C}"/>
              </a:ext>
            </a:extLst>
          </p:cNvPr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D48CB2F-51C1-A5BC-FA51-33FE98DC07D9}"/>
                </a:ext>
              </a:extLst>
            </p:cNvPr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38A7863-A3AC-7B32-4252-7CAECB3E6A70}"/>
                </a:ext>
              </a:extLst>
            </p:cNvPr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5CD66B48-82E8-E0F2-4DE4-47AD891E8A4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47B219-BE0D-C2FD-FD23-04E41E929A97}"/>
              </a:ext>
            </a:extLst>
          </p:cNvPr>
          <p:cNvSpPr txBox="1"/>
          <p:nvPr/>
        </p:nvSpPr>
        <p:spPr>
          <a:xfrm>
            <a:off x="3095836" y="512676"/>
            <a:ext cx="53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GUI Osciloscop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16F7CCB-9A85-9438-0508-EEAF208DF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598" y="1268760"/>
            <a:ext cx="7236804" cy="468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0433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019AE-39A4-9555-C2FF-65ADE8EBE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7BDC5497-47A1-493A-3F56-BAFD58B0EF4B}"/>
              </a:ext>
            </a:extLst>
          </p:cNvPr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DD8526B-1096-4CF1-A131-EC127883C477}"/>
                </a:ext>
              </a:extLst>
            </p:cNvPr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82BE460-3B8F-ED71-4A21-119CE545CE60}"/>
                </a:ext>
              </a:extLst>
            </p:cNvPr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3C0F79F8-D4A6-C30C-928F-2970BF92CF3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C062008-AEC3-667C-1F4C-D5A4CEB01E52}"/>
              </a:ext>
            </a:extLst>
          </p:cNvPr>
          <p:cNvSpPr txBox="1"/>
          <p:nvPr/>
        </p:nvSpPr>
        <p:spPr>
          <a:xfrm>
            <a:off x="3095836" y="512676"/>
            <a:ext cx="53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GUI Osciloscop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BE06C5-BC88-E435-D5B3-1252ED53D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1124744"/>
            <a:ext cx="7527634" cy="493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235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344</TotalTime>
  <Words>258</Words>
  <Application>Microsoft Office PowerPoint</Application>
  <PresentationFormat>On-screen Show (4:3)</PresentationFormat>
  <Paragraphs>29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UT Sans</vt:lpstr>
      <vt:lpstr>UT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Denis Iordache</cp:lastModifiedBy>
  <cp:revision>25</cp:revision>
  <dcterms:created xsi:type="dcterms:W3CDTF">2017-10-19T09:49:50Z</dcterms:created>
  <dcterms:modified xsi:type="dcterms:W3CDTF">2026-01-16T13:18:39Z</dcterms:modified>
</cp:coreProperties>
</file>