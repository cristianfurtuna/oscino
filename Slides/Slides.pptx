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A0"/>
    <a:srgbClr val="288ABA"/>
    <a:srgbClr val="771D82"/>
    <a:srgbClr val="131D82"/>
    <a:srgbClr val="8CBE42"/>
    <a:srgbClr val="AA0533"/>
    <a:srgbClr val="4C23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195" autoAdjust="0"/>
  </p:normalViewPr>
  <p:slideViewPr>
    <p:cSldViewPr>
      <p:cViewPr>
        <p:scale>
          <a:sx n="100" d="100"/>
          <a:sy n="100" d="100"/>
        </p:scale>
        <p:origin x="946" y="-2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CD987-D5F0-423A-B571-656612AAA3E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4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013176"/>
            <a:ext cx="3312368" cy="1270897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8064388" y="5857924"/>
            <a:ext cx="216000" cy="216000"/>
            <a:chOff x="2772000" y="1932221"/>
            <a:chExt cx="2340000" cy="2340000"/>
          </a:xfrm>
        </p:grpSpPr>
        <p:sp>
          <p:nvSpPr>
            <p:cNvPr id="9" name="Rectangle 8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624228" y="5857924"/>
            <a:ext cx="216000" cy="216000"/>
            <a:chOff x="2772000" y="1932221"/>
            <a:chExt cx="2340000" cy="2340000"/>
          </a:xfrm>
        </p:grpSpPr>
        <p:sp>
          <p:nvSpPr>
            <p:cNvPr id="15" name="Rectangle 1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8064388" y="4417764"/>
            <a:ext cx="216000" cy="216000"/>
          </a:xfrm>
          <a:prstGeom prst="rect">
            <a:avLst/>
          </a:prstGeom>
          <a:solidFill>
            <a:srgbClr val="0064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35834" y="4489210"/>
            <a:ext cx="73108" cy="73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5184068" y="5857924"/>
            <a:ext cx="216000" cy="216000"/>
            <a:chOff x="2772000" y="1932221"/>
            <a:chExt cx="2340000" cy="2340000"/>
          </a:xfrm>
        </p:grpSpPr>
        <p:sp>
          <p:nvSpPr>
            <p:cNvPr id="18" name="Rectangle 17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624228" y="4417764"/>
            <a:ext cx="216000" cy="216000"/>
            <a:chOff x="2772000" y="1932221"/>
            <a:chExt cx="2340000" cy="2340000"/>
          </a:xfrm>
        </p:grpSpPr>
        <p:sp>
          <p:nvSpPr>
            <p:cNvPr id="24" name="Rectangle 23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8064388" y="2977604"/>
            <a:ext cx="216000" cy="216000"/>
            <a:chOff x="2772000" y="1932221"/>
            <a:chExt cx="2340000" cy="2340000"/>
          </a:xfrm>
        </p:grpSpPr>
        <p:sp>
          <p:nvSpPr>
            <p:cNvPr id="27" name="Rectangle 26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755576" y="908720"/>
            <a:ext cx="78128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UT Sans Bold" pitchFamily="50" charset="0"/>
              </a:rPr>
              <a:t>NIBIRU</a:t>
            </a:r>
          </a:p>
          <a:p>
            <a:r>
              <a:rPr lang="en-US" sz="3600" dirty="0" err="1">
                <a:latin typeface="UT Sans Bold" pitchFamily="50" charset="0"/>
              </a:rPr>
              <a:t>Osciloscop</a:t>
            </a:r>
            <a:r>
              <a:rPr lang="en-US" sz="3600" dirty="0">
                <a:latin typeface="UT Sans Bold" pitchFamily="50" charset="0"/>
              </a:rPr>
              <a:t> Digital</a:t>
            </a:r>
            <a:r>
              <a:rPr lang="ro-RO" sz="3600" dirty="0">
                <a:latin typeface="UT Sans Bold" pitchFamily="50" charset="0"/>
              </a:rPr>
              <a:t> cu Izolație Galvanică</a:t>
            </a:r>
            <a:endParaRPr lang="en-US" sz="3600" dirty="0">
              <a:latin typeface="UT Sans Bold" pitchFamily="50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5576" y="3193604"/>
            <a:ext cx="36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UT Sans Bold" pitchFamily="50" charset="0"/>
              </a:rPr>
              <a:t>Furtun</a:t>
            </a:r>
            <a:r>
              <a:rPr lang="ro-RO" sz="2400" dirty="0">
                <a:latin typeface="UT Sans Bold" pitchFamily="50" charset="0"/>
              </a:rPr>
              <a:t>ă Cristian</a:t>
            </a:r>
            <a:br>
              <a:rPr lang="ro-RO" sz="2400" dirty="0">
                <a:latin typeface="UT Sans Bold" pitchFamily="50" charset="0"/>
              </a:rPr>
            </a:br>
            <a:r>
              <a:rPr lang="ro-RO" sz="2400" dirty="0">
                <a:latin typeface="UT Sans Bold" pitchFamily="50" charset="0"/>
              </a:rPr>
              <a:t>Iordache Denis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95011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DFB170-B35F-3CBD-8CCA-ABD34C1C0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74" y="983461"/>
            <a:ext cx="7668852" cy="54120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3760B6-AF00-BC57-262F-046CDA492B90}"/>
              </a:ext>
            </a:extLst>
          </p:cNvPr>
          <p:cNvSpPr txBox="1"/>
          <p:nvPr/>
        </p:nvSpPr>
        <p:spPr>
          <a:xfrm>
            <a:off x="3095836" y="512676"/>
            <a:ext cx="5310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/>
              <a:t>Schematic</a:t>
            </a:r>
          </a:p>
        </p:txBody>
      </p:sp>
    </p:spTree>
    <p:extLst>
      <p:ext uri="{BB962C8B-B14F-4D97-AF65-F5344CB8AC3E}">
        <p14:creationId xmlns:p14="http://schemas.microsoft.com/office/powerpoint/2010/main" val="2490966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5E9888-2622-62E5-F0E0-D16A1C12A1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08" t="3007" b="2286"/>
          <a:stretch/>
        </p:blipFill>
        <p:spPr>
          <a:xfrm>
            <a:off x="499352" y="1052737"/>
            <a:ext cx="7961080" cy="52560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397751-880B-B780-2EB2-D8CB1C51DD1E}"/>
              </a:ext>
            </a:extLst>
          </p:cNvPr>
          <p:cNvSpPr txBox="1"/>
          <p:nvPr/>
        </p:nvSpPr>
        <p:spPr>
          <a:xfrm>
            <a:off x="3095836" y="512676"/>
            <a:ext cx="5310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/>
              <a:t>PCB Design</a:t>
            </a:r>
          </a:p>
        </p:txBody>
      </p:sp>
    </p:spTree>
    <p:extLst>
      <p:ext uri="{BB962C8B-B14F-4D97-AF65-F5344CB8AC3E}">
        <p14:creationId xmlns:p14="http://schemas.microsoft.com/office/powerpoint/2010/main" val="3453293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E1EA87-E9FB-B2AA-77C6-98CBB063F43A}"/>
              </a:ext>
            </a:extLst>
          </p:cNvPr>
          <p:cNvSpPr txBox="1"/>
          <p:nvPr/>
        </p:nvSpPr>
        <p:spPr>
          <a:xfrm>
            <a:off x="3095836" y="512676"/>
            <a:ext cx="5310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/>
              <a:t>PCB Design </a:t>
            </a:r>
            <a:r>
              <a:rPr lang="ro-RO" sz="2000" dirty="0" err="1"/>
              <a:t>Bottom</a:t>
            </a:r>
            <a:endParaRPr lang="ro-RO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D7A329-AC48-9EB8-13ED-0314A3E7D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84" y="953842"/>
            <a:ext cx="8028384" cy="535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904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E1EA87-E9FB-B2AA-77C6-98CBB063F43A}"/>
              </a:ext>
            </a:extLst>
          </p:cNvPr>
          <p:cNvSpPr txBox="1"/>
          <p:nvPr/>
        </p:nvSpPr>
        <p:spPr>
          <a:xfrm>
            <a:off x="3095836" y="512676"/>
            <a:ext cx="5310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/>
              <a:t>PCB Design 3D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EA5C94-0F06-B5B8-08AC-664C11C510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32" t="20338" r="21256" b="13493"/>
          <a:stretch/>
        </p:blipFill>
        <p:spPr>
          <a:xfrm>
            <a:off x="431540" y="1178716"/>
            <a:ext cx="8173446" cy="450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32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solidFill>
                    <a:srgbClr val="E7E6E6">
                      <a:lumMod val="7500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solidFill>
                    <a:srgbClr val="E7E6E6">
                      <a:lumMod val="7500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11560" y="1044019"/>
            <a:ext cx="7848872" cy="467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• Backwards compatibility cu Arduino IDE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maparea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pinilor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este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realizată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în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stil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Arduino Mega)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•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Frecvență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maximă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a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semnalului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de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măsurat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circa 300kHz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în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funcție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de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configurarea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ADC-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ului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limită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impusă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de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amplificatorul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de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intrare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)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•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Alimentare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unică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prin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USB-C de 5V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• Transfer de date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prin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USB-C (Max. 2Mb/s)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•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Intrare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BNC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•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Cuplaj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AC/DC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•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Encodere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digitale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pentru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control al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afișajului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baza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de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timp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și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scară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 de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tensiune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9E954C-8956-D007-11B6-AB54FF84615A}"/>
              </a:ext>
            </a:extLst>
          </p:cNvPr>
          <p:cNvSpPr txBox="1"/>
          <p:nvPr/>
        </p:nvSpPr>
        <p:spPr>
          <a:xfrm>
            <a:off x="3095836" y="512676"/>
            <a:ext cx="5310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/>
              <a:t>Specificații hardware finale</a:t>
            </a:r>
          </a:p>
        </p:txBody>
      </p:sp>
    </p:spTree>
    <p:extLst>
      <p:ext uri="{BB962C8B-B14F-4D97-AF65-F5344CB8AC3E}">
        <p14:creationId xmlns:p14="http://schemas.microsoft.com/office/powerpoint/2010/main" val="4277757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solidFill>
                    <a:srgbClr val="E7E6E6">
                      <a:lumMod val="7500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solidFill>
                    <a:srgbClr val="E7E6E6">
                      <a:lumMod val="7500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11560" y="1044019"/>
            <a:ext cx="7848872" cy="374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• </a:t>
            </a:r>
            <a:r>
              <a:rPr kumimoji="0" lang="ro-RO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Modularitate hardware și software, posibilitatea de reconfigurare a oricărui parametru și de adăugare a unor funcționalități noi prin pinii GPIO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T Sans" pitchFamily="50" charset="0"/>
              <a:ea typeface="+mn-ea"/>
              <a:cs typeface="+mn-cs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• </a:t>
            </a:r>
            <a:r>
              <a:rPr kumimoji="0" lang="ro-RO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Consum energetic estimativ maxim mai mic de 2W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T Sans" pitchFamily="50" charset="0"/>
              <a:ea typeface="+mn-ea"/>
              <a:cs typeface="+mn-cs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• </a:t>
            </a:r>
            <a:r>
              <a:rPr lang="ro-RO" sz="2000" dirty="0">
                <a:solidFill>
                  <a:prstClr val="black"/>
                </a:solidFill>
                <a:latin typeface="UT Sans" pitchFamily="50" charset="0"/>
              </a:rPr>
              <a:t>Circuit de protecție la scurtcircuit la alimentare (e-Fuse)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T Sans" pitchFamily="50" charset="0"/>
              <a:ea typeface="+mn-ea"/>
              <a:cs typeface="+mn-cs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• </a:t>
            </a:r>
            <a:r>
              <a:rPr kumimoji="0" lang="ro-RO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Comunicație digitală izolată prin izolatori cu cuplaj inductiv și optocuploare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T Sans" pitchFamily="50" charset="0"/>
              <a:ea typeface="+mn-ea"/>
              <a:cs typeface="+mn-cs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• </a:t>
            </a:r>
            <a:r>
              <a:rPr kumimoji="0" lang="ro-RO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T Sans" pitchFamily="50" charset="0"/>
                <a:ea typeface="+mn-ea"/>
                <a:cs typeface="+mn-cs"/>
              </a:rPr>
              <a:t>ADC cu </a:t>
            </a:r>
            <a:r>
              <a:rPr lang="ro-RO" sz="2000" dirty="0">
                <a:solidFill>
                  <a:prstClr val="black"/>
                </a:solidFill>
                <a:latin typeface="UT Sans" pitchFamily="50" charset="0"/>
              </a:rPr>
              <a:t>aproximări succesive configurabil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T Sans" pitchFamily="50" charset="0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9E954C-8956-D007-11B6-AB54FF84615A}"/>
              </a:ext>
            </a:extLst>
          </p:cNvPr>
          <p:cNvSpPr txBox="1"/>
          <p:nvPr/>
        </p:nvSpPr>
        <p:spPr>
          <a:xfrm>
            <a:off x="3095836" y="512676"/>
            <a:ext cx="5310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/>
              <a:t>Specificații hardware finale</a:t>
            </a:r>
          </a:p>
        </p:txBody>
      </p:sp>
    </p:spTree>
    <p:extLst>
      <p:ext uri="{BB962C8B-B14F-4D97-AF65-F5344CB8AC3E}">
        <p14:creationId xmlns:p14="http://schemas.microsoft.com/office/powerpoint/2010/main" val="2525232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Words>169</Words>
  <Application>Microsoft Office PowerPoint</Application>
  <PresentationFormat>On-screen Show (4:3)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UT Sans</vt:lpstr>
      <vt:lpstr>UT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Cristian Furtuna</cp:lastModifiedBy>
  <cp:revision>22</cp:revision>
  <dcterms:created xsi:type="dcterms:W3CDTF">2017-10-19T09:49:50Z</dcterms:created>
  <dcterms:modified xsi:type="dcterms:W3CDTF">2026-01-15T19:38:02Z</dcterms:modified>
</cp:coreProperties>
</file>